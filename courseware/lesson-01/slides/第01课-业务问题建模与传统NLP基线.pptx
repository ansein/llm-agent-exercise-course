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2b9232d2244a8c" /><Relationship Type="http://schemas.openxmlformats.org/officeDocument/2006/relationships/extended-properties" Target="/docProps/app.xml" Id="R54f94bc6d7294e77" /><Relationship Type="http://schemas.openxmlformats.org/officeDocument/2006/relationships/officeDocument" Target="/ppt/presentation.xml" Id="Re606d1ba93f1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ce29425494c4a"/>
  </p:sldMasterIdLst>
  <p:notesMasterIdLst>
    <p:notesMasterId xmlns:r="http://schemas.openxmlformats.org/officeDocument/2006/relationships" r:id="R74fb1f8b8aa64743"/>
  </p:notesMasterIdLst>
  <p:sldIdLst>
    <p:sldId xmlns:r="http://schemas.openxmlformats.org/officeDocument/2006/relationships" id="256" r:id="Re78c40f1e98f46d1"/>
    <p:sldId xmlns:r="http://schemas.openxmlformats.org/officeDocument/2006/relationships" id="257" r:id="Rbf884c5065c64c7e"/>
    <p:sldId xmlns:r="http://schemas.openxmlformats.org/officeDocument/2006/relationships" id="258" r:id="Rf70f10aa38994099"/>
    <p:sldId xmlns:r="http://schemas.openxmlformats.org/officeDocument/2006/relationships" id="259" r:id="R4b50e59a3a014f93"/>
    <p:sldId xmlns:r="http://schemas.openxmlformats.org/officeDocument/2006/relationships" id="260" r:id="R5dd7f2f518d2478e"/>
    <p:sldId xmlns:r="http://schemas.openxmlformats.org/officeDocument/2006/relationships" id="261" r:id="Ra8d8a2604f6e4176"/>
    <p:sldId xmlns:r="http://schemas.openxmlformats.org/officeDocument/2006/relationships" id="262" r:id="R65610184a20f450c"/>
    <p:sldId xmlns:r="http://schemas.openxmlformats.org/officeDocument/2006/relationships" id="263" r:id="R661d60b89e904be7"/>
    <p:sldId xmlns:r="http://schemas.openxmlformats.org/officeDocument/2006/relationships" id="264" r:id="R483a08c959804d25"/>
    <p:sldId xmlns:r="http://schemas.openxmlformats.org/officeDocument/2006/relationships" id="265" r:id="R9fa54a805b474a02"/>
    <p:sldId xmlns:r="http://schemas.openxmlformats.org/officeDocument/2006/relationships" id="266" r:id="R3903bc5e64664f94"/>
    <p:sldId xmlns:r="http://schemas.openxmlformats.org/officeDocument/2006/relationships" id="267" r:id="R7a1d21bc381e41db"/>
    <p:sldId xmlns:r="http://schemas.openxmlformats.org/officeDocument/2006/relationships" id="268" r:id="Rb369d1fbcbdc4dcb"/>
    <p:sldId xmlns:r="http://schemas.openxmlformats.org/officeDocument/2006/relationships" id="269" r:id="R67f0f633d0f24f25"/>
    <p:sldId xmlns:r="http://schemas.openxmlformats.org/officeDocument/2006/relationships" id="270" r:id="Rd00f3aa265bb4c43"/>
    <p:sldId xmlns:r="http://schemas.openxmlformats.org/officeDocument/2006/relationships" id="271" r:id="R8f6816279aea4522"/>
    <p:sldId xmlns:r="http://schemas.openxmlformats.org/officeDocument/2006/relationships" id="272" r:id="R9905a68912914f01"/>
    <p:sldId xmlns:r="http://schemas.openxmlformats.org/officeDocument/2006/relationships" id="273" r:id="R89785f57dfaf485e"/>
    <p:sldId xmlns:r="http://schemas.openxmlformats.org/officeDocument/2006/relationships" id="274" r:id="Rf62e8b4602214a3a"/>
    <p:sldId xmlns:r="http://schemas.openxmlformats.org/officeDocument/2006/relationships" id="275" r:id="R6dc465cd67954c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54cd710bfc49fd" /><Relationship Type="http://schemas.openxmlformats.org/officeDocument/2006/relationships/slideMaster" Target="/ppt/slideMasters/slideMaster1.xml" Id="Rd73ce29425494c4a" /><Relationship Type="http://schemas.openxmlformats.org/officeDocument/2006/relationships/notesMaster" Target="/ppt/notesMasters/notesMaster1.xml" Id="R74fb1f8b8aa64743" /><Relationship Type="http://schemas.openxmlformats.org/officeDocument/2006/relationships/presProps" Target="/ppt/presProps.xml" Id="Rbc9361c6a2d34b39" /><Relationship Type="http://schemas.openxmlformats.org/officeDocument/2006/relationships/tableStyles" Target="/ppt/tableStyles.xml" Id="R09a4273da034411c" /><Relationship Type="http://schemas.openxmlformats.org/officeDocument/2006/relationships/slide" Target="/ppt/slides/slide1.xml" Id="Re78c40f1e98f46d1" /><Relationship Type="http://schemas.openxmlformats.org/officeDocument/2006/relationships/slide" Target="/ppt/slides/slide2.xml" Id="Rbf884c5065c64c7e" /><Relationship Type="http://schemas.openxmlformats.org/officeDocument/2006/relationships/slide" Target="/ppt/slides/slide3.xml" Id="Rf70f10aa38994099" /><Relationship Type="http://schemas.openxmlformats.org/officeDocument/2006/relationships/slide" Target="/ppt/slides/slide4.xml" Id="R4b50e59a3a014f93" /><Relationship Type="http://schemas.openxmlformats.org/officeDocument/2006/relationships/slide" Target="/ppt/slides/slide5.xml" Id="R5dd7f2f518d2478e" /><Relationship Type="http://schemas.openxmlformats.org/officeDocument/2006/relationships/slide" Target="/ppt/slides/slide6.xml" Id="Ra8d8a2604f6e4176" /><Relationship Type="http://schemas.openxmlformats.org/officeDocument/2006/relationships/slide" Target="/ppt/slides/slide7.xml" Id="R65610184a20f450c" /><Relationship Type="http://schemas.openxmlformats.org/officeDocument/2006/relationships/slide" Target="/ppt/slides/slide8.xml" Id="R661d60b89e904be7" /><Relationship Type="http://schemas.openxmlformats.org/officeDocument/2006/relationships/slide" Target="/ppt/slides/slide9.xml" Id="R483a08c959804d25" /><Relationship Type="http://schemas.openxmlformats.org/officeDocument/2006/relationships/slide" Target="/ppt/slides/slide10.xml" Id="R9fa54a805b474a02" /><Relationship Type="http://schemas.openxmlformats.org/officeDocument/2006/relationships/slide" Target="/ppt/slides/slide11.xml" Id="R3903bc5e64664f94" /><Relationship Type="http://schemas.openxmlformats.org/officeDocument/2006/relationships/slide" Target="/ppt/slides/slide12.xml" Id="R7a1d21bc381e41db" /><Relationship Type="http://schemas.openxmlformats.org/officeDocument/2006/relationships/slide" Target="/ppt/slides/slide13.xml" Id="Rb369d1fbcbdc4dcb" /><Relationship Type="http://schemas.openxmlformats.org/officeDocument/2006/relationships/slide" Target="/ppt/slides/slide14.xml" Id="R67f0f633d0f24f25" /><Relationship Type="http://schemas.openxmlformats.org/officeDocument/2006/relationships/slide" Target="/ppt/slides/slide15.xml" Id="Rd00f3aa265bb4c43" /><Relationship Type="http://schemas.openxmlformats.org/officeDocument/2006/relationships/slide" Target="/ppt/slides/slide16.xml" Id="R8f6816279aea4522" /><Relationship Type="http://schemas.openxmlformats.org/officeDocument/2006/relationships/slide" Target="/ppt/slides/slide17.xml" Id="R9905a68912914f01" /><Relationship Type="http://schemas.openxmlformats.org/officeDocument/2006/relationships/slide" Target="/ppt/slides/slide18.xml" Id="R89785f57dfaf485e" /><Relationship Type="http://schemas.openxmlformats.org/officeDocument/2006/relationships/slide" Target="/ppt/slides/slide19.xml" Id="Rf62e8b4602214a3a" /><Relationship Type="http://schemas.openxmlformats.org/officeDocument/2006/relationships/slide" Target="/ppt/slides/slide20.xml" Id="R6dc465cd6795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fb03142de45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ac3008ed934b92" /><Relationship Type="http://schemas.openxmlformats.org/officeDocument/2006/relationships/notesMaster" Target="/ppt/notesMasters/notesMaster1.xml" Id="Rff7ba441d09b4f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b33d7cdc046b1" /><Relationship Type="http://schemas.openxmlformats.org/officeDocument/2006/relationships/notesMaster" Target="/ppt/notesMasters/notesMaster1.xml" Id="R109dfcb2c9fd49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6bca0c773d4ad0" /><Relationship Type="http://schemas.openxmlformats.org/officeDocument/2006/relationships/notesMaster" Target="/ppt/notesMasters/notesMaster1.xml" Id="Re862b8685b314d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542241b56b4b6a" /><Relationship Type="http://schemas.openxmlformats.org/officeDocument/2006/relationships/notesMaster" Target="/ppt/notesMasters/notesMaster1.xml" Id="R121b0064cc73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81dae162a4b34" /><Relationship Type="http://schemas.openxmlformats.org/officeDocument/2006/relationships/notesMaster" Target="/ppt/notesMasters/notesMaster1.xml" Id="Ra148f88c557644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e29a65791041b7" /><Relationship Type="http://schemas.openxmlformats.org/officeDocument/2006/relationships/notesMaster" Target="/ppt/notesMasters/notesMaster1.xml" Id="Rb3844e9c5032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80e266fc4d4030" /><Relationship Type="http://schemas.openxmlformats.org/officeDocument/2006/relationships/notesMaster" Target="/ppt/notesMasters/notesMaster1.xml" Id="R9c27fd2043ba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7e5023bbef49f6" /><Relationship Type="http://schemas.openxmlformats.org/officeDocument/2006/relationships/notesMaster" Target="/ppt/notesMasters/notesMaster1.xml" Id="R1f46c555bcad47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e9afded83417a" /><Relationship Type="http://schemas.openxmlformats.org/officeDocument/2006/relationships/notesMaster" Target="/ppt/notesMasters/notesMaster1.xml" Id="Rc3cb0d9a92cd43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b4d152539430a" /><Relationship Type="http://schemas.openxmlformats.org/officeDocument/2006/relationships/notesMaster" Target="/ppt/notesMasters/notesMaster1.xml" Id="R9e2fde32ae5842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a7cea213a74382" /><Relationship Type="http://schemas.openxmlformats.org/officeDocument/2006/relationships/notesMaster" Target="/ppt/notesMasters/notesMaster1.xml" Id="Rcf1dccf9475b49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a87dd85ac94087" /><Relationship Type="http://schemas.openxmlformats.org/officeDocument/2006/relationships/notesMaster" Target="/ppt/notesMasters/notesMaster1.xml" Id="R3efa184ade594f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c8eaf5d464ed6" /><Relationship Type="http://schemas.openxmlformats.org/officeDocument/2006/relationships/notesMaster" Target="/ppt/notesMasters/notesMaster1.xml" Id="R119ad4c52fea42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69dff76012409f" /><Relationship Type="http://schemas.openxmlformats.org/officeDocument/2006/relationships/notesMaster" Target="/ppt/notesMasters/notesMaster1.xml" Id="R2bcb2700a5814a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db54942756429e" /><Relationship Type="http://schemas.openxmlformats.org/officeDocument/2006/relationships/notesMaster" Target="/ppt/notesMasters/notesMaster1.xml" Id="Rbbed3406c0464a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d375dfc2a940dc" /><Relationship Type="http://schemas.openxmlformats.org/officeDocument/2006/relationships/notesMaster" Target="/ppt/notesMasters/notesMaster1.xml" Id="R099d1c92291b4a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a731a3eac343d2" /><Relationship Type="http://schemas.openxmlformats.org/officeDocument/2006/relationships/notesMaster" Target="/ppt/notesMasters/notesMaster1.xml" Id="R5f70937c51b34d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309caeb9bf4ca4" /><Relationship Type="http://schemas.openxmlformats.org/officeDocument/2006/relationships/notesMaster" Target="/ppt/notesMasters/notesMaster1.xml" Id="Ra3101b4cdc454c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210a4525bf4bc7" /><Relationship Type="http://schemas.openxmlformats.org/officeDocument/2006/relationships/notesMaster" Target="/ppt/notesMasters/notesMaster1.xml" Id="R33246674ab1e48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be087eb281478e" /><Relationship Type="http://schemas.openxmlformats.org/officeDocument/2006/relationships/notesMaster" Target="/ppt/notesMasters/notesMaster1.xml" Id="R8adca06478b3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开场说明课程只做意图路由，不办理真实退款。完整讲稿见教师讲义。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请学员分别判断主诉求。第三句是创作请求，出现业务词不等于业务操作。00—15分钟。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解释自动解决率的分母是全部请求。分类调用耗时不等于客服处理时长。15—25分钟。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共12个已知类，unknown额外表示域外或需澄清。主诉求优先于被否定的背景。25—35分钟。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来源data/templates.json和unknown_templates.json。每类20核心表达；不可称为1200个独立语言样本。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来源data/manifest.json。template_id包含标签，只用于审计。测试有效已知表达族48个。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打开src/baselines.py KeywordRules.explain；演示开具发票和不要取消只改地址。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35—48分钟。参考https://scikit-learn.org/1.7/modules/feature_extraction.html 。代码用字符2—4 gram，sublinear_tf=True。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先让学员算df，再算平方和开根号。完整过程见教师讲义。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48—60分钟。参考https://scikit-learn.org/1.7/modules/generated/sklearn.linear_model.LogisticRegression.html 。C=4，lbfgs，max_iter=1000。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课堂两类练习参考答案macro-F1约0.6751，准确率0.65。unknown不作为主已知macro-F1的第13类，但矩阵包含unknown。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来源reference/baseline-v1/threshold-selection.csv。成本为教学相对单位，非企业核定金额。60—80分钟教师运行演示。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80—155分钟。按学员实验手册A—E执行，先完成5例错误分析，课后补足20例。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数据来自reference/baseline-v1/results.json。已知n=240，未知n=40。蓝色规则，橙色TF-IDF。拒识口径下F1 0.338492/0.366098；覆盖0.375/0.404167；未知误收均0。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来源reference/baseline-v1/results.json。准确率与成本权重不同。不要根据测试为每个类别挑赢家再声称未见泛化。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来源reference/baseline-v1/results.json bootstrap_95_percent。不是生产流量的置信保证，也不包括训练变异。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来源data/challenges.csv和reference/baseline-v1/challenge-results.csv。H19/H20的模型实测分别cancel_order/return_request；文字理解后仍需服务端核对订单状态。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来源reference/baseline-v1/challenge-results.csv。挑战集不参与阈值选择和主指标，完整24例见报告。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155—180分钟。完整评分见参考答案与评分.md；70分通过。泄漏、伪造或改分母需修复后评审。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模型能力不替代身份、权限和业务状态校验。下一课学习张量与文本表示；当前结果不是生产上线验收。</a:t>
            </a:r>
          </a:p>
          <a:p xmlns:a="http://schemas.openxmlformats.org/drawingml/2006/main">
            <a:r>
              <a:t>第01课教学包；讲稿详见教师讲义.md。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9399c56f042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edb56150c46b8" /><Relationship Type="http://schemas.openxmlformats.org/officeDocument/2006/relationships/slideLayout" Target="/ppt/slideLayouts/slideLayout1.xml" Id="R8603694dd81d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3694dd81d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d4d8685ae4b27" /><Relationship Type="http://schemas.openxmlformats.org/officeDocument/2006/relationships/notesSlide" Target="/ppt/notesSlides/notesSlide1.xml" Id="Rca9165fa3e2846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e4d3371c24780" /><Relationship Type="http://schemas.openxmlformats.org/officeDocument/2006/relationships/notesSlide" Target="/ppt/notesSlides/notesSlide2.xml" Id="Reae79c4836c1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c09414e874750" /><Relationship Type="http://schemas.openxmlformats.org/officeDocument/2006/relationships/notesSlide" Target="/ppt/notesSlides/notesSlide3.xml" Id="R93f78184d0f3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af71231074210" /><Relationship Type="http://schemas.openxmlformats.org/officeDocument/2006/relationships/notesSlide" Target="/ppt/notesSlides/notesSlide4.xml" Id="R37e48bb999ec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66d3e14e6409a" /><Relationship Type="http://schemas.openxmlformats.org/officeDocument/2006/relationships/notesSlide" Target="/ppt/notesSlides/notesSlide5.xml" Id="Ra78536fd6faa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d49d6be9745f7" /><Relationship Type="http://schemas.openxmlformats.org/officeDocument/2006/relationships/notesSlide" Target="/ppt/notesSlides/notesSlide6.xml" Id="R3792e65b570b43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bcfaab3c4003" /><Relationship Type="http://schemas.openxmlformats.org/officeDocument/2006/relationships/notesSlide" Target="/ppt/notesSlides/notesSlide7.xml" Id="Rb9620c59293a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ec2faadcc47d1" /><Relationship Type="http://schemas.openxmlformats.org/officeDocument/2006/relationships/notesSlide" Target="/ppt/notesSlides/notesSlide8.xml" Id="Rd056ab1de3e04e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fac8e0ca4962" /><Relationship Type="http://schemas.openxmlformats.org/officeDocument/2006/relationships/notesSlide" Target="/ppt/notesSlides/notesSlide9.xml" Id="R02c8a9cc67b345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9f83b6cbe44b8" /><Relationship Type="http://schemas.openxmlformats.org/officeDocument/2006/relationships/notesSlide" Target="/ppt/notesSlides/notesSlide10.xml" Id="R57ee4a3ca0cf4d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f1c22bc24e1c" /><Relationship Type="http://schemas.openxmlformats.org/officeDocument/2006/relationships/notesSlide" Target="/ppt/notesSlides/notesSlide11.xml" Id="R210edbc42e9648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82b4384034459" /><Relationship Type="http://schemas.openxmlformats.org/officeDocument/2006/relationships/notesSlide" Target="/ppt/notesSlides/notesSlide12.xml" Id="R2ab13c4f4f174f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893b2d8ad4f7a" /><Relationship Type="http://schemas.openxmlformats.org/officeDocument/2006/relationships/notesSlide" Target="/ppt/notesSlides/notesSlide13.xml" Id="R1a07330d3b2442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4b3cf4f54ec0" /><Relationship Type="http://schemas.openxmlformats.org/officeDocument/2006/relationships/chart" Target="/ppt/slides/charts/chart1.xml" Id="Rcc38a6c3ce5f4b90" /><Relationship Type="http://schemas.openxmlformats.org/officeDocument/2006/relationships/notesSlide" Target="/ppt/notesSlides/notesSlide14.xml" Id="Rb425be42346b41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23a06555a4560" /><Relationship Type="http://schemas.openxmlformats.org/officeDocument/2006/relationships/notesSlide" Target="/ppt/notesSlides/notesSlide15.xml" Id="R31aed4b568e04a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75d0b3d044038" /><Relationship Type="http://schemas.openxmlformats.org/officeDocument/2006/relationships/notesSlide" Target="/ppt/notesSlides/notesSlide16.xml" Id="R407c2076fbae46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020ca520e4a3a" /><Relationship Type="http://schemas.openxmlformats.org/officeDocument/2006/relationships/notesSlide" Target="/ppt/notesSlides/notesSlide17.xml" Id="Rd7057d2983ae4e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24f1f18ca43d2" /><Relationship Type="http://schemas.openxmlformats.org/officeDocument/2006/relationships/notesSlide" Target="/ppt/notesSlides/notesSlide18.xml" Id="R29386dd427a148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4cab4906e4604" /><Relationship Type="http://schemas.openxmlformats.org/officeDocument/2006/relationships/notesSlide" Target="/ppt/notesSlides/notesSlide19.xml" Id="Rdbec3c621c5e45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6265711744cc2" /><Relationship Type="http://schemas.openxmlformats.org/officeDocument/2006/relationships/notesSlide" Target="/ppt/notesSlides/notesSlide20.xml" Id="R6ac4d89586704d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规则</c:v>
          </c:tx>
          <c:spPr>
            <a:solidFill xmlns:a="http://schemas.openxmlformats.org/drawingml/2006/main">
              <a:srgbClr val="315C9B"/>
            </a:solidFill>
          </c:spPr>
          <c:cat>
            <c:strRef>
              <c:f>'Chart Data'!$A$2:$A$4</c:f>
              <c:strCache>
                <c:ptCount val="3"/>
                <c:pt idx="0">
                  <c:v>已知 macro-F1</c:v>
                </c:pt>
                <c:pt idx="1">
                  <c:v>已知覆盖率</c:v>
                </c:pt>
                <c:pt idx="2">
                  <c:v>未知误收率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0.338492</c:v>
                </c:pt>
                <c:pt idx="1">
                  <c:v>0.375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TF-IDF＋拒识</c:v>
          </c:tx>
          <c:spPr>
            <a:solidFill xmlns:a="http://schemas.openxmlformats.org/drawingml/2006/main">
              <a:srgbClr val="C47B27"/>
            </a:solidFill>
          </c:spPr>
          <c:cat>
            <c:strRef>
              <c:f>'Chart Data'!$C$2:$C$4</c:f>
              <c:strCache>
                <c:ptCount val="3"/>
                <c:pt idx="0">
                  <c:v>已知 macro-F1</c:v>
                </c:pt>
                <c:pt idx="1">
                  <c:v>已知覆盖率</c:v>
                </c:pt>
                <c:pt idx="2">
                  <c:v>未知误收率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0.366098</c:v>
                </c:pt>
                <c:pt idx="1">
                  <c:v>0.404167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Heiti TC"/>
              <a:ea typeface="Heiti TC"/>
              <a:cs typeface="Heiti T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63204-41AC-4222-BABA-709E6B36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业务问题建模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与传统 NLP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9A5EA-9B5B-4759-8A73-8617689B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第01课 · 客服意图路由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4BA9A-4D99-47C8-B9E1-9B6EFD1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规则与 TF-IDF＋逻辑回归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221EC-4F31-438C-B9EF-A51252F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合成数据教学实验 · 180分钟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40EF9-0410-4E27-838F-EDC4A7A1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2D1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DC2D1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3234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E3A42-530E-46AC-AAE5-27EB551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开场案例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AB9AC-76D1-43FE-B417-5179046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不要取消订单，只是改收货地址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55596-D721-4F83-B532-927B1D81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退款什么时候到账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5849A-524D-41D0-8402-9DCBA56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写一首包含退款和发票的诗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FBAC6-0901-4F84-8736-377CE43D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7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68FF8-1A31-45AB-9BBB-1FC77622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客服效率与分类指标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9BBC1-42B8-4705-A8C3-53740EAB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意图正确：请求分到了正确类别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96FCF-1F5C-4578-8634-BCD0E33F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知识命中：返回了支持答案的证据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E1CCF-6ADB-4D94-BF37-55BA229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自动解决：无需人工且业务正确终结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C892-83F4-4C61-807A-D5B5CB10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本节测量第一项，不能代替后两项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EC5EC-76D7-474A-9123-D9A6D77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914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C51A5-0CA3-45CF-87E5-F2A8E40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业务标签与边界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9D49-249F-4EE6-85A4-D2A643A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取消订单 / 签收后退货 / 换货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68E32-0462-4FF2-BDD8-22C12EC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退款进度 / 支付 / 发票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1454-ABFA-4268-91D8-B8D84B10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物流 / 修改收件信息 / 售前咨询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C8C00-1A87-4626-8EAA-E429B79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安装使用 / 保修维修 / 服务投诉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23EA-4146-4706-B700-03C7B6C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1500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65157-07A1-415B-99FE-7F6E3BE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合成数据的规模与局限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7A834-73E9-449D-ABCB-8101A748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1200条已知意图 = 240个核心表达 × 5种包装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43B75-BD47-42EC-90D6-ECE41639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另有80条未知意图，不计入已知1200条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BC8BE-B818-411C-B2EF-DABA0D7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测试刻意包含否定、同义与背景干扰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D68C5-954A-4E63-AA46-BC632F96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这是困难表达迁移实验，不是生产抽样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68AED-281A-4815-8486-5668840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5801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6ED86-3764-4908-8BB1-ADE8A840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训练、验证与测试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D5876-D51E-496D-9902-6BDE07A9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训练：720条已知，只在这里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39E6F-5D5F-4134-A65F-7DD3FCDB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验证：240条已知＋40条未知，选择阈值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BE86C-5579-4A45-9DA0-052E2AE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测试：240条已知＋40条未知，最终评测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F2FA5-5854-4FC9-9CA7-62B98F5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客户与表达族不能跨集合；模型只输入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A4B83-E96F-4AB9-9305-A35A5BF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8173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CC535-66AC-42BE-B598-9F4E8061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规则基线的执行逻辑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F3A1-0E52-42CA-8530-5ADC7A0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唯一意图命中：返回该标签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887D-CB29-42CA-AFA1-2F72538D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零命中或多意图命中：unknown，转人工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83694-2693-4895-8DF4-EAD9254C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关键词透明、易检查，无需训练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44F90-E0E9-4C5E-8B35-1EB888F0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局限：不理解否定范围和背景主次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BE925-6187-4D97-9C71-59BF719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7118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4A01-35F6-4BBD-B7CB-FDF2D843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TF-IDF 的含义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3B1D5-EDB6-47AF-AF47-FB547E3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TF：片段在当前文本中出现的次数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97302-A312-4B40-8CF8-0262D8C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df：包含该片段的文档数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699E9-3EBC-4C2C-8C95-E60F1D3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平滑 IDF = ln((1＋n)/(1＋df))＋1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EE778-72FA-4834-BBC6-0A10E662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L2 归一化后输入分类器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CD4A-511E-4C53-BF74-8359512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4550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7B761-6594-4694-AF4B-0275997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三个文档的手算例子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18D3-BDE4-4C81-B804-C7DF54F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D1：退款 到账；D2：退款 进度；D3：发票 开具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D2C3-53F0-4F05-A2A4-ABAD007E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IDF(退款)=1.287682；IDF(到账)=1.693147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578FC-7C45-45BD-9CD0-8D5538D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D1 归一化向量约为 [0.605349, 0.795961]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E9B51-BDDC-4129-8621-968A50D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实际代码用字符片段；此例用词便于手算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C3D05-9355-4356-81C4-2AF009C2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0772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30C52-2FBD-4D47-9D6F-F706D09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逻辑回归与训练边界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8ACBC-CAD9-4BA1-A16F-66386FEF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文本 → 字符2—4 gram → TF-IDF → 线性分类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9F42D-2CF0-4771-A3C0-2A79847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每类分数：z = w·x＋b，再做 softmax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B3D45-7A65-4353-AB46-AB1C3B8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词表、IDF与分类参数只从训练集学习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B1E5C-FE1A-40FB-A80C-5C2FC194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最大类别分数不等于已校准的正确概率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36F53-DD36-4D19-8831-5345961E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5232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DC8EF-C3F3-4894-96A0-189155D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指标的分母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DA6C7-0E64-48A3-889F-E61872B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F1 = 2TP / (2TP＋FP＋FN)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7A927-077E-406A-A35C-CA96BC6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macro-F1：12个已知类别的F1等权平均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6C5EA-D482-4A20-B59F-699274A0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已知被拒识仍计错，不能删掉后再算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BB493-A0AB-475F-8855-B880294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未知误收：被路由到已知类的未知请求 /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B00AD-B7BD-4C62-B0F6-DBB41956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7591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95763-A647-44F2-9FBD-C2AFBF7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拒识阈值与错误成本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BED0-340B-41E9-B003-AB4176E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教学成本：已知错路由3、已知拒识1、未知误收5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9DC7-D1E8-4206-9E81-00E29B3B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只在验证集比较预设阈值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84D9C-C2C7-447B-98BB-A06AB61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本次选定阈值：0.25；验证成本：0.7000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9FA0D-7324-4DF4-9700-4E152E7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全部拒绝会失去覆盖率，不能叫自动解决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F6612-870B-421F-921F-B7941EA6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51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649D-249D-4E7B-BDF6-4089F3CE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75分钟分组实验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44FDC-B1CD-4EC1-87D3-50E717E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15分钟：业务指标与数据审计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2D5D3-9DB2-458F-9A11-F88FB5E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15分钟：规则命中与模型训练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0C1D3-8C79-442B-BCAB-2C5CA11F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15分钟：验证阈值，含5分钟自主休息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A1493-785E-4B3F-B8D1-92B9DEC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30分钟：最终评测、读图与失败样本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F750-CC8F-4102-BAF2-88A2D2AA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5466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78E97-52A9-4F9D-B84C-92DA24F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冻结测试：质量与覆盖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047750" y="1619250"/>
          <a:ext xmlns:a="http://schemas.openxmlformats.org/drawingml/2006/main" cx="10096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38a6c3ce5f4b9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924FC-084E-47F5-9983-6D69885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合成测试：已知240条、未知40条；拒识的已知请求仍计错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AD5F9-357A-4D5F-8303-3D9278B9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51216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D2815-9FD5-4A6C-A28A-9E1A477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更高 F1 不等于更低业务成本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703E0-F983-4103-A693-96DB513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规则：教学成本 0.8036 / 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66CE7-36EE-4129-AE48-37527BF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TF-IDF＋拒识：教学成本 0.8107 / 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00C2D-E0D3-4C54-AFB1-66EDB10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强制分类F1为0.6100，但未知误收40/40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C597-580E-44DB-9007-4A9EA132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当前证据不支持直接自动办理业务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41F5F-BC26-431E-A76E-743D073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33847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22738-1387-450A-9DA7-BE870B5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表达族重采样的不确定性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0B5FA-76E2-46B6-85B1-9A6574F7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每个已知类4个测试表达族，族内5条一起采样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A6E17-9938-46A3-B78D-234472E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配对 bootstrap 1000次，比较F1差值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130E7-5B34-44D3-8AB6-AA221AE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95%区间约为 [-0.1141, 0.1775]，跨0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3F50A-436C-4AB6-A81B-A93FC0B2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范围只适用于此合成表达池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6BB8-CCD3-4176-94D2-B08FC321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6304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B6354-C798-49CB-9BD7-98DCFD2D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否定与业务状态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36D35-0484-4EAC-A0FE-F4B31E2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H03：不想维修，我要求换货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43FDE-2842-4547-AC26-15D4171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预期换货；TF-IDF实测预测为保修维修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EA872-F05B-4326-8B99-0448EDF3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H19：还没寄出不要了 → 取消订单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038F7-368B-4383-A548-865FC7F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H20：已经收到了不要了 → 退货申请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3F287-1C61-473F-B8C1-1D876B56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805220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546AD-1516-4265-A114-FDC2F5F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0次未知误收的边界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69516-A23F-4DAB-BCA7-377D92B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主测试40条域外全部拒识，仍不足以保证安全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47580-0309-47AD-83AC-84FA91D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H16：翻译这句话：我要取消订单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AC50C-0E12-4529-AE1A-FDB716FA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两个方案都误路由为取消订单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EA53E-431A-4C91-95C6-E43969F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含业务词的域外请求需要独立评测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E2B8C-F6E4-4E5A-8BAD-ACC70839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4014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E33A-6584-4810-B79D-44D253E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课堂验收与作业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82801-0588-42FC-925D-E4F77152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保存数据hash、配置、运行命令和逐样本预测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4B684-05AE-4021-AD51-9B108CF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解释macro-F1、各类召回、覆盖及未知误收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4CE3-0DA8-4F8B-8898-3792C58E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课堂分析5例，课后补足20个独立表达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A93E3-82B4-4AFB-9B4D-E67B7FE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给出技术取舍；低F1不等于作业不合格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0E4C3-7233-46DE-9A12-73621F42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33048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060C7-879F-4F8B-9142-2CF600C3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后续课程的比较起点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2015C-40CC-45EF-81C8-D3DA1D3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BERT：检验上下文表示对分类的收益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8D398-6BE3-4588-8622-7242E20F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GPT：检验指令理解和结构化提取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47A82-3F76-452B-93EC-2C943A15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RAG与Agent：进一步验证知识与业务执行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F5987-EC03-4DC1-B985-4250C242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4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F46"/>
                </a:solidFill>
                <a:latin typeface="Heiti TC"/>
                <a:ea typeface="Heiti TC"/>
                <a:cs typeface="Heiti TC"/>
              </a:rPr>
              <a:t>同一业务主线，保留基线、失败与成本证据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BB5EF-C942-4752-973C-DCE3D93C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A86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97A86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86929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2026-09-15T01:42:07.7750000Z</dcterms:created>
  <dcterms:modified xsi:type="dcterms:W3CDTF">2026-09-15T01:42:07.7750000Z</dcterms:modified>
</coreProperties>
</file>