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embeddings/chart-data.xlsx" ContentType="application/vnd.openxmlformats-officedocument.spreadsheetml.sheet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12192000"/>
  <p:defaultTextStyle>
    <a:defPPr>
      <a:defRPr lang="zh-CN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-data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lang="zh-CN" sz="1800" b="1">
                <a:latin typeface="Heiti TC"/>
                <a:ea typeface="Heiti TC"/>
              </a:rPr>
              <a:t>冻结测试：已知n=240、未知n=40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均值池化＋拒识</c:v>
                </c:pt>
              </c:strCache>
            </c:strRef>
          </c:tx>
          <c:spPr>
            <a:solidFill>
              <a:srgbClr val="#315C9B"/>
            </a:solidFill>
          </c:spPr>
          <c:cat>
            <c:strRef>
              <c:f>Sheet1!$A$2:$A$4</c:f>
              <c:strCache>
                <c:ptCount val="3"/>
                <c:pt idx="0">
                  <c:v>已知 macro-F1</c:v>
                </c:pt>
                <c:pt idx="1">
                  <c:v>已知覆盖率</c:v>
                </c:pt>
                <c:pt idx="2">
                  <c:v>未知误收率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0.492634</c:v>
                </c:pt>
                <c:pt idx="1">
                  <c:v>0.529167</c:v>
                </c:pt>
                <c:pt idx="2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第01课TF-IDF</c:v>
                </c:pt>
              </c:strCache>
            </c:strRef>
          </c:tx>
          <c:spPr>
            <a:solidFill>
              <a:srgbClr val="#C47B27"/>
            </a:solidFill>
          </c:spPr>
          <c:cat>
            <c:strRef>
              <c:f>Sheet1!$A$2:$A$4</c:f>
              <c:strCache>
                <c:ptCount val="3"/>
                <c:pt idx="0">
                  <c:v>已知 macro-F1</c:v>
                </c:pt>
                <c:pt idx="1">
                  <c:v>已知覆盖率</c:v>
                </c:pt>
                <c:pt idx="2">
                  <c:v>未知误收率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0.366098</c:v>
                </c:pt>
                <c:pt idx="1">
                  <c:v>0.404167</c:v>
                </c:pt>
                <c:pt idx="2">
                  <c:v>0.0</c:v>
                </c:pt>
              </c:numCache>
            </c:numRef>
          </c:val>
        </c:ser>
        <c:gapWidth val="120"/>
        <c:overlap val="-2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numFmt formatCode="0%" sourceLinked="0"/>
        <c:crossAx val="111111111"/>
      </c:valAx>
    </c:plotArea>
    <c:legend>
      <c:legendPos val="b"/>
      <c:overlay val="0"/>
    </c:legend>
    <c:plotVisOnly val="1"/>
    <c:dispBlanksAs val="gap"/>
  </c:chart>
</c:chartSpac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457200" y="457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开场说明本课从零实现，不是为了替代框架，而是为了看清维度与梯度。完整讲稿见教师讲义。</a:t>
            </a:r>
          </a:p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第02课教学包；讲稿详见教师讲义.md。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457200" y="457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三个开场提问；让学员先写batch×sequence×hidden。强调本课验收是能解释形状与梯度，不是把F1做高。00—15分钟。</a:t>
            </a:r>
          </a:p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第02课教学包；讲稿详见教师讲义.md。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457200" y="457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打开encoding.py的tokenize与pad_batch。词表必须只从训练集构建。</a:t>
            </a:r>
          </a:p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第02课教学包；讲稿详见教师讲义.md。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457200" y="457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白板画形状流转；课堂提问：hidden维度和词表大小谁决定参数量？</a:t>
            </a:r>
          </a:p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第02课教学包；讲稿详见教师讲义.md。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457200" y="457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来源encoding.py pad_batch。强调mask不是可选的优化，而是语义正确性的一部分。</a:t>
            </a:r>
          </a:p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第02课教学包；讲稿详见教师讲义.md。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457200" y="457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来源reference/mini-autograd-v1/encoding-audit.json。对比子词分词：词表大、序列短。</a:t>
            </a:r>
          </a:p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第02课教学包；讲稿详见教师讲义.md。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457200" y="457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同一token在不同位置共享同一行；这正是“查表”与“线性层”的区别。</a:t>
            </a:r>
          </a:p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第02课教学包；讲稿详见教师讲义.md。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457200" y="457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白板推导：补齐参与均值会把0向量计入分母，表示被拉向原点。</a:t>
            </a:r>
          </a:p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第02课教学包；讲稿详见教师讲义.md。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457200" y="457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来源autograd.py softmax_cross_entropy。课堂手算两分类一例。</a:t>
            </a:r>
          </a:p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第02课教学包；讲稿详见教师讲义.md。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457200" y="457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这是本课最容易踩的坑：训练不报错，但参数不动。用数值梯度暴露它。</a:t>
            </a:r>
          </a:p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第02课教学包；讲稿详见教师讲义.md。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457200" y="457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打开autograd.py逐个算子对照。强调“局部梯度×上游梯度”的链式法则。</a:t>
            </a:r>
          </a:p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第02课教学包；讲稿详见教师讲义.md。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457200" y="457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来源reference/mini-autograd-v1/gradient-check.json，epsilon=1e-6。误差量级来自差分本身，不是实现错误。</a:t>
            </a:r>
          </a:p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第02课教学包；讲稿详见教师讲义.md。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457200" y="457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来源results.json的parameter_count与history。强调这是最小可解释模型，不是生产模型。</a:t>
            </a:r>
          </a:p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第02课教学包；讲稿详见教师讲义.md。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457200" y="457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80—155分钟。按学员实验手册A—F执行，先完成形状与梯度检查点。</a:t>
            </a:r>
          </a:p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第02课教学包；讲稿详见教师讲义.md。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457200" y="457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数据来自reference/mini-autograd-v1/results.json。蓝色为均值池化，橙色为第01课TF-IDF（冻结预测）。已知n=240，未知n=40。</a:t>
            </a:r>
          </a:p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第02课教学包；讲稿详见教师讲义.md。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457200" y="457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来源results.json。第01课冻结预测来自courseware/lesson-01/reference/baseline-v1/predictions.csv，本课不重新训练该模型。</a:t>
            </a:r>
          </a:p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第02课教学包；讲稿详见教师讲义.md。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457200" y="457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来源results.json的bootstrap_95_percent。不能断言稳定优于TF-IDF，但强制分类确有提升。</a:t>
            </a:r>
          </a:p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第02课教学包；讲稿详见教师讲义.md。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457200" y="457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来源bug-diagnostics.json。重点：指标变好不能证明实现正确；它的代价是表示随batch组成漂移。</a:t>
            </a:r>
          </a:p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第02课教学包；讲稿详见教师讲义.md。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457200" y="457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来源bug-diagnostics.json。对应真实项目中的“标签读错列”“shuffle后忘记同步”。</a:t>
            </a:r>
          </a:p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第02课教学包；讲稿详见教师讲义.md。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457200" y="457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155—180分钟。完整评分见参考答案与评分.md；70分通过。篡改数据或测试标签需重做。</a:t>
            </a:r>
          </a:p>
          <a:p>
            <a:pPr algn="l"/>
            <a:r>
              <a:rPr lang="zh-CN" sz="1200" b="0" dirty="0">
                <a:solidFill>
                  <a:srgbClr val="000000"/>
                </a:solidFill>
                <a:latin typeface="Heiti TC"/>
                <a:ea typeface="Heiti TC"/>
              </a:rPr>
              <a:t>第02课教学包；讲稿详见教师讲义.md。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D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02920"/>
            <a:ext cx="10881360" cy="1737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4000" b="1" dirty="0">
                <a:solidFill>
                  <a:srgbClr val="FFFFFF"/>
                </a:solidFill>
                <a:latin typeface="Heiti TC"/>
                <a:ea typeface="Heiti TC"/>
              </a:rPr>
              <a:t>张量计算</a:t>
            </a:r>
          </a:p>
          <a:p>
            <a:pPr algn="l"/>
            <a:r>
              <a:rPr lang="zh-CN" sz="4000" b="1" dirty="0">
                <a:solidFill>
                  <a:srgbClr val="FFFFFF"/>
                </a:solidFill>
                <a:latin typeface="Heiti TC"/>
                <a:ea typeface="Heiti TC"/>
              </a:rPr>
              <a:t>与文本表示</a:t>
            </a:r>
          </a:p>
        </p:txBody>
      </p:sp>
      <p:sp>
        <p:nvSpPr>
          <p:cNvPr id="3" name="Line0"/>
          <p:cNvSpPr txBox="1"/>
          <p:nvPr/>
        </p:nvSpPr>
        <p:spPr>
          <a:xfrm>
            <a:off x="777240" y="23774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500" b="0" dirty="0">
                <a:solidFill>
                  <a:srgbClr val="FFFFFF"/>
                </a:solidFill>
                <a:latin typeface="Heiti TC"/>
                <a:ea typeface="Heiti TC"/>
              </a:rPr>
              <a:t>第02课 · 客服意图分类</a:t>
            </a:r>
          </a:p>
        </p:txBody>
      </p:sp>
      <p:sp>
        <p:nvSpPr>
          <p:cNvPr id="4" name="Line1"/>
          <p:cNvSpPr txBox="1"/>
          <p:nvPr/>
        </p:nvSpPr>
        <p:spPr>
          <a:xfrm>
            <a:off x="777240" y="324612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500" b="0" dirty="0">
                <a:solidFill>
                  <a:srgbClr val="FFFFFF"/>
                </a:solidFill>
                <a:latin typeface="Heiti TC"/>
                <a:ea typeface="Heiti TC"/>
              </a:rPr>
              <a:t>字符编码 → embedding → 手写反向</a:t>
            </a:r>
          </a:p>
        </p:txBody>
      </p:sp>
      <p:sp>
        <p:nvSpPr>
          <p:cNvPr id="5" name="Line2"/>
          <p:cNvSpPr txBox="1"/>
          <p:nvPr/>
        </p:nvSpPr>
        <p:spPr>
          <a:xfrm>
            <a:off x="777240" y="41148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500" b="0" dirty="0">
                <a:solidFill>
                  <a:srgbClr val="FFFFFF"/>
                </a:solidFill>
                <a:latin typeface="Heiti TC"/>
                <a:ea typeface="Heiti TC"/>
              </a:rPr>
              <a:t>合成数据教学实验 · 180分钟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029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3000" b="1" dirty="0">
                <a:solidFill>
                  <a:srgbClr val="172F46"/>
                </a:solidFill>
                <a:latin typeface="Heiti TC"/>
                <a:ea typeface="Heiti TC"/>
              </a:rPr>
              <a:t>为什么先讲张量</a:t>
            </a:r>
          </a:p>
        </p:txBody>
      </p:sp>
      <p:sp>
        <p:nvSpPr>
          <p:cNvPr id="3" name="Line0"/>
          <p:cNvSpPr txBox="1"/>
          <p:nvPr/>
        </p:nvSpPr>
        <p:spPr>
          <a:xfrm>
            <a:off x="777240" y="16916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一句话怎么变成数字？张量有哪三个维度？</a:t>
            </a:r>
          </a:p>
        </p:txBody>
      </p:sp>
      <p:sp>
        <p:nvSpPr>
          <p:cNvPr id="4" name="Line1"/>
          <p:cNvSpPr txBox="1"/>
          <p:nvPr/>
        </p:nvSpPr>
        <p:spPr>
          <a:xfrm>
            <a:off x="777240" y="256032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第01课用稀疏词袋，词与词独立</a:t>
            </a:r>
          </a:p>
        </p:txBody>
      </p:sp>
      <p:sp>
        <p:nvSpPr>
          <p:cNvPr id="5" name="Line2"/>
          <p:cNvSpPr txBox="1"/>
          <p:nvPr/>
        </p:nvSpPr>
        <p:spPr>
          <a:xfrm>
            <a:off x="777240" y="34290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稠密表示可以学习相似性</a:t>
            </a:r>
          </a:p>
        </p:txBody>
      </p:sp>
      <p:sp>
        <p:nvSpPr>
          <p:cNvPr id="6" name="Line3"/>
          <p:cNvSpPr txBox="1"/>
          <p:nvPr/>
        </p:nvSpPr>
        <p:spPr>
          <a:xfrm>
            <a:off x="777240" y="429768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但形状、mask、梯度一错就静默失效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029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3000" b="1" dirty="0">
                <a:solidFill>
                  <a:srgbClr val="172F46"/>
                </a:solidFill>
                <a:latin typeface="Heiti TC"/>
                <a:ea typeface="Heiti TC"/>
              </a:rPr>
              <a:t>文本 → ID → 张量</a:t>
            </a:r>
          </a:p>
        </p:txBody>
      </p:sp>
      <p:sp>
        <p:nvSpPr>
          <p:cNvPr id="3" name="Line0"/>
          <p:cNvSpPr txBox="1"/>
          <p:nvPr/>
        </p:nvSpPr>
        <p:spPr>
          <a:xfrm>
            <a:off x="777240" y="16916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字符级分词，无需中文分词词典</a:t>
            </a:r>
          </a:p>
        </p:txBody>
      </p:sp>
      <p:sp>
        <p:nvSpPr>
          <p:cNvPr id="4" name="Line1"/>
          <p:cNvSpPr txBox="1"/>
          <p:nvPr/>
        </p:nvSpPr>
        <p:spPr>
          <a:xfrm>
            <a:off x="777240" y="256032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&lt;pad&gt;索引0、&lt;unk&gt;索引1固定</a:t>
            </a:r>
          </a:p>
        </p:txBody>
      </p:sp>
      <p:sp>
        <p:nvSpPr>
          <p:cNvPr id="5" name="Line2"/>
          <p:cNvSpPr txBox="1"/>
          <p:nvPr/>
        </p:nvSpPr>
        <p:spPr>
          <a:xfrm>
            <a:off x="777240" y="34290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ids/mask 形状 (batch, sequence)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029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3000" b="1" dirty="0">
                <a:solidFill>
                  <a:srgbClr val="172F46"/>
                </a:solidFill>
                <a:latin typeface="Heiti TC"/>
                <a:ea typeface="Heiti TC"/>
              </a:rPr>
              <a:t>三个维度</a:t>
            </a:r>
          </a:p>
        </p:txBody>
      </p:sp>
      <p:sp>
        <p:nvSpPr>
          <p:cNvPr id="3" name="Line0"/>
          <p:cNvSpPr txBox="1"/>
          <p:nvPr/>
        </p:nvSpPr>
        <p:spPr>
          <a:xfrm>
            <a:off x="777240" y="16916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(batch, sequence)：一个batch的token编号</a:t>
            </a:r>
          </a:p>
        </p:txBody>
      </p:sp>
      <p:sp>
        <p:nvSpPr>
          <p:cNvPr id="4" name="Line1"/>
          <p:cNvSpPr txBox="1"/>
          <p:nvPr/>
        </p:nvSpPr>
        <p:spPr>
          <a:xfrm>
            <a:off x="777240" y="256032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(batch, sequence, hidden)：查表后</a:t>
            </a:r>
          </a:p>
        </p:txBody>
      </p:sp>
      <p:sp>
        <p:nvSpPr>
          <p:cNvPr id="5" name="Line2"/>
          <p:cNvSpPr txBox="1"/>
          <p:nvPr/>
        </p:nvSpPr>
        <p:spPr>
          <a:xfrm>
            <a:off x="777240" y="34290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(batch, hidden)：按mask池化后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029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3000" b="1" dirty="0">
                <a:solidFill>
                  <a:srgbClr val="172F46"/>
                </a:solidFill>
                <a:latin typeface="Heiti TC"/>
                <a:ea typeface="Heiti TC"/>
              </a:rPr>
              <a:t>补齐与attention mask</a:t>
            </a:r>
          </a:p>
        </p:txBody>
      </p:sp>
      <p:sp>
        <p:nvSpPr>
          <p:cNvPr id="3" name="Line0"/>
          <p:cNvSpPr txBox="1"/>
          <p:nvPr/>
        </p:nvSpPr>
        <p:spPr>
          <a:xfrm>
            <a:off x="777240" y="16916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补齐是为了把一个batch拼成矩阵</a:t>
            </a:r>
          </a:p>
        </p:txBody>
      </p:sp>
      <p:sp>
        <p:nvSpPr>
          <p:cNvPr id="4" name="Line1"/>
          <p:cNvSpPr txBox="1"/>
          <p:nvPr/>
        </p:nvSpPr>
        <p:spPr>
          <a:xfrm>
            <a:off x="777240" y="256032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mask=1真实token，mask=0补齐位置</a:t>
            </a:r>
          </a:p>
        </p:txBody>
      </p:sp>
      <p:sp>
        <p:nvSpPr>
          <p:cNvPr id="5" name="Line2"/>
          <p:cNvSpPr txBox="1"/>
          <p:nvPr/>
        </p:nvSpPr>
        <p:spPr>
          <a:xfrm>
            <a:off x="777240" y="34290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补齐不得改变有效文本的表示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029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3000" b="1" dirty="0">
                <a:solidFill>
                  <a:srgbClr val="172F46"/>
                </a:solidFill>
                <a:latin typeface="Heiti TC"/>
                <a:ea typeface="Heiti TC"/>
              </a:rPr>
              <a:t>词表的代价</a:t>
            </a:r>
          </a:p>
        </p:txBody>
      </p:sp>
      <p:sp>
        <p:nvSpPr>
          <p:cNvPr id="3" name="Line0"/>
          <p:cNvSpPr txBox="1"/>
          <p:nvPr/>
        </p:nvSpPr>
        <p:spPr>
          <a:xfrm>
            <a:off x="777240" y="16916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训练集词表345项，未见字符记UNK</a:t>
            </a:r>
          </a:p>
        </p:txBody>
      </p:sp>
      <p:sp>
        <p:nvSpPr>
          <p:cNvPr id="4" name="Line1"/>
          <p:cNvSpPr txBox="1"/>
          <p:nvPr/>
        </p:nvSpPr>
        <p:spPr>
          <a:xfrm>
            <a:off x="777240" y="256032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训练语料OOV发生率4.98%</a:t>
            </a:r>
          </a:p>
        </p:txBody>
      </p:sp>
      <p:sp>
        <p:nvSpPr>
          <p:cNvPr id="5" name="Line2"/>
          <p:cNvSpPr txBox="1"/>
          <p:nvPr/>
        </p:nvSpPr>
        <p:spPr>
          <a:xfrm>
            <a:off x="777240" y="34290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字符级：词表小、序列长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029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3000" b="1" dirty="0">
                <a:solidFill>
                  <a:srgbClr val="172F46"/>
                </a:solidFill>
                <a:latin typeface="Heiti TC"/>
                <a:ea typeface="Heiti TC"/>
              </a:rPr>
              <a:t>embedding查表</a:t>
            </a:r>
          </a:p>
        </p:txBody>
      </p:sp>
      <p:sp>
        <p:nvSpPr>
          <p:cNvPr id="3" name="Line0"/>
          <p:cNvSpPr txBox="1"/>
          <p:nvPr/>
        </p:nvSpPr>
        <p:spPr>
          <a:xfrm>
            <a:off x="777240" y="16916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表形状 (vocab, hidden)</a:t>
            </a:r>
          </a:p>
        </p:txBody>
      </p:sp>
      <p:sp>
        <p:nvSpPr>
          <p:cNvPr id="4" name="Line1"/>
          <p:cNvSpPr txBox="1"/>
          <p:nvPr/>
        </p:nvSpPr>
        <p:spPr>
          <a:xfrm>
            <a:off x="777240" y="256032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查表 = 按行取向量</a:t>
            </a:r>
          </a:p>
        </p:txBody>
      </p:sp>
      <p:sp>
        <p:nvSpPr>
          <p:cNvPr id="5" name="Line2"/>
          <p:cNvSpPr txBox="1"/>
          <p:nvPr/>
        </p:nvSpPr>
        <p:spPr>
          <a:xfrm>
            <a:off x="777240" y="34290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梯度用 np.add.at 累加到对应行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029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3000" b="1" dirty="0">
                <a:solidFill>
                  <a:srgbClr val="172F46"/>
                </a:solidFill>
                <a:latin typeface="Heiti TC"/>
                <a:ea typeface="Heiti TC"/>
              </a:rPr>
              <a:t>masked mean池化</a:t>
            </a:r>
          </a:p>
        </p:txBody>
      </p:sp>
      <p:sp>
        <p:nvSpPr>
          <p:cNvPr id="3" name="Line0"/>
          <p:cNvSpPr txBox="1"/>
          <p:nvPr/>
        </p:nvSpPr>
        <p:spPr>
          <a:xfrm>
            <a:off x="777240" y="16916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按有效长度归一，而不是按补齐长度</a:t>
            </a:r>
          </a:p>
        </p:txBody>
      </p:sp>
      <p:sp>
        <p:nvSpPr>
          <p:cNvPr id="4" name="Line1"/>
          <p:cNvSpPr txBox="1"/>
          <p:nvPr/>
        </p:nvSpPr>
        <p:spPr>
          <a:xfrm>
            <a:off x="777240" y="256032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权重 = mask / 有效长度</a:t>
            </a:r>
          </a:p>
        </p:txBody>
      </p:sp>
      <p:sp>
        <p:nvSpPr>
          <p:cNvPr id="5" name="Line2"/>
          <p:cNvSpPr txBox="1"/>
          <p:nvPr/>
        </p:nvSpPr>
        <p:spPr>
          <a:xfrm>
            <a:off x="777240" y="34290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同一句话补到更宽画布，结果不变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029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3000" b="1" dirty="0">
                <a:solidFill>
                  <a:srgbClr val="172F46"/>
                </a:solidFill>
                <a:latin typeface="Heiti TC"/>
                <a:ea typeface="Heiti TC"/>
              </a:rPr>
              <a:t>交叉熵与数值稳定</a:t>
            </a:r>
          </a:p>
        </p:txBody>
      </p:sp>
      <p:sp>
        <p:nvSpPr>
          <p:cNvPr id="3" name="Line0"/>
          <p:cNvSpPr txBox="1"/>
          <p:nvPr/>
        </p:nvSpPr>
        <p:spPr>
          <a:xfrm>
            <a:off x="777240" y="16916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softmax：概率总和为1</a:t>
            </a:r>
          </a:p>
        </p:txBody>
      </p:sp>
      <p:sp>
        <p:nvSpPr>
          <p:cNvPr id="4" name="Line1"/>
          <p:cNvSpPr txBox="1"/>
          <p:nvPr/>
        </p:nvSpPr>
        <p:spPr>
          <a:xfrm>
            <a:off x="777240" y="256032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减去每行最大值再取log，避免溢出</a:t>
            </a:r>
          </a:p>
        </p:txBody>
      </p:sp>
      <p:sp>
        <p:nvSpPr>
          <p:cNvPr id="5" name="Line2"/>
          <p:cNvSpPr txBox="1"/>
          <p:nvPr/>
        </p:nvSpPr>
        <p:spPr>
          <a:xfrm>
            <a:off x="777240" y="34290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损失对logits的梯度：(p − y) / 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029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3000" b="1" dirty="0">
                <a:solidFill>
                  <a:srgbClr val="172F46"/>
                </a:solidFill>
                <a:latin typeface="Heiti TC"/>
                <a:ea typeface="Heiti TC"/>
              </a:rPr>
              <a:t>反向传播的顺序</a:t>
            </a:r>
          </a:p>
        </p:txBody>
      </p:sp>
      <p:sp>
        <p:nvSpPr>
          <p:cNvPr id="3" name="Line0"/>
          <p:cNvSpPr txBox="1"/>
          <p:nvPr/>
        </p:nvSpPr>
        <p:spPr>
          <a:xfrm>
            <a:off x="777240" y="16916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从损失出发，沿计算图回传</a:t>
            </a:r>
          </a:p>
        </p:txBody>
      </p:sp>
      <p:sp>
        <p:nvSpPr>
          <p:cNvPr id="4" name="Line1"/>
          <p:cNvSpPr txBox="1"/>
          <p:nvPr/>
        </p:nvSpPr>
        <p:spPr>
          <a:xfrm>
            <a:off x="777240" y="256032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某个算子必须等它所有消费者算完</a:t>
            </a:r>
          </a:p>
        </p:txBody>
      </p:sp>
      <p:sp>
        <p:nvSpPr>
          <p:cNvPr id="5" name="Line2"/>
          <p:cNvSpPr txBox="1"/>
          <p:nvPr/>
        </p:nvSpPr>
        <p:spPr>
          <a:xfrm>
            <a:off x="777240" y="34290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顺序写错时中间梯度保持0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029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3000" b="1" dirty="0">
                <a:solidFill>
                  <a:srgbClr val="172F46"/>
                </a:solidFill>
                <a:latin typeface="Heiti TC"/>
                <a:ea typeface="Heiti TC"/>
              </a:rPr>
              <a:t>每个算子的局部梯度</a:t>
            </a:r>
          </a:p>
        </p:txBody>
      </p:sp>
      <p:sp>
        <p:nvSpPr>
          <p:cNvPr id="3" name="Line0"/>
          <p:cNvSpPr txBox="1"/>
          <p:nvPr/>
        </p:nvSpPr>
        <p:spPr>
          <a:xfrm>
            <a:off x="777240" y="16916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线性层：dW = xᵀ·dY，dx = dY·Wᵀ</a:t>
            </a:r>
          </a:p>
        </p:txBody>
      </p:sp>
      <p:sp>
        <p:nvSpPr>
          <p:cNvPr id="4" name="Line1"/>
          <p:cNvSpPr txBox="1"/>
          <p:nvPr/>
        </p:nvSpPr>
        <p:spPr>
          <a:xfrm>
            <a:off x="777240" y="256032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池化：梯度除以有效长度，再按mask展开</a:t>
            </a:r>
          </a:p>
        </p:txBody>
      </p:sp>
      <p:sp>
        <p:nvSpPr>
          <p:cNvPr id="5" name="Line2"/>
          <p:cNvSpPr txBox="1"/>
          <p:nvPr/>
        </p:nvSpPr>
        <p:spPr>
          <a:xfrm>
            <a:off x="777240" y="34290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查表：同一token的多处梯度相加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029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3000" b="1" dirty="0">
                <a:solidFill>
                  <a:srgbClr val="172F46"/>
                </a:solidFill>
                <a:latin typeface="Heiti TC"/>
                <a:ea typeface="Heiti TC"/>
              </a:rPr>
              <a:t>手写反向的数值校验</a:t>
            </a:r>
          </a:p>
        </p:txBody>
      </p:sp>
      <p:sp>
        <p:nvSpPr>
          <p:cNvPr id="3" name="Line0"/>
          <p:cNvSpPr txBox="1"/>
          <p:nvPr/>
        </p:nvSpPr>
        <p:spPr>
          <a:xfrm>
            <a:off x="777240" y="16916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中心差分：(L(θ+ε) − L(θ−ε)) / 2ε</a:t>
            </a:r>
          </a:p>
        </p:txBody>
      </p:sp>
      <p:sp>
        <p:nvSpPr>
          <p:cNvPr id="4" name="Line1"/>
          <p:cNvSpPr txBox="1"/>
          <p:nvPr/>
        </p:nvSpPr>
        <p:spPr>
          <a:xfrm>
            <a:off x="777240" y="256032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embedding与权重：相对误差5.2e-05</a:t>
            </a:r>
          </a:p>
        </p:txBody>
      </p:sp>
      <p:sp>
        <p:nvSpPr>
          <p:cNvPr id="5" name="Line2"/>
          <p:cNvSpPr txBox="1"/>
          <p:nvPr/>
        </p:nvSpPr>
        <p:spPr>
          <a:xfrm>
            <a:off x="777240" y="34290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偏置：相对误差1.3e-09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029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3000" b="1" dirty="0">
                <a:solidFill>
                  <a:srgbClr val="172F46"/>
                </a:solidFill>
                <a:latin typeface="Heiti TC"/>
                <a:ea typeface="Heiti TC"/>
              </a:rPr>
              <a:t>训练一个最小分类器</a:t>
            </a:r>
          </a:p>
        </p:txBody>
      </p:sp>
      <p:sp>
        <p:nvSpPr>
          <p:cNvPr id="3" name="Line0"/>
          <p:cNvSpPr txBox="1"/>
          <p:nvPr/>
        </p:nvSpPr>
        <p:spPr>
          <a:xfrm>
            <a:off x="777240" y="16916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参数量22860：embedding 22080＋分类头780</a:t>
            </a:r>
          </a:p>
        </p:txBody>
      </p:sp>
      <p:sp>
        <p:nvSpPr>
          <p:cNvPr id="4" name="Line1"/>
          <p:cNvSpPr txBox="1"/>
          <p:nvPr/>
        </p:nvSpPr>
        <p:spPr>
          <a:xfrm>
            <a:off x="777240" y="256032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Adam，学习率0.05，batch 64，40轮</a:t>
            </a:r>
          </a:p>
        </p:txBody>
      </p:sp>
      <p:sp>
        <p:nvSpPr>
          <p:cNvPr id="5" name="Line2"/>
          <p:cNvSpPr txBox="1"/>
          <p:nvPr/>
        </p:nvSpPr>
        <p:spPr>
          <a:xfrm>
            <a:off x="777240" y="34290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训练loss 1.72 → 0.0001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029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3000" b="1" dirty="0">
                <a:solidFill>
                  <a:srgbClr val="172F46"/>
                </a:solidFill>
                <a:latin typeface="Heiti TC"/>
                <a:ea typeface="Heiti TC"/>
              </a:rPr>
              <a:t>75分钟分组实验</a:t>
            </a:r>
          </a:p>
        </p:txBody>
      </p:sp>
      <p:sp>
        <p:nvSpPr>
          <p:cNvPr id="3" name="Line0"/>
          <p:cNvSpPr txBox="1"/>
          <p:nvPr/>
        </p:nvSpPr>
        <p:spPr>
          <a:xfrm>
            <a:off x="777240" y="16916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15分钟：数据审计与编码，打印形状</a:t>
            </a:r>
          </a:p>
        </p:txBody>
      </p:sp>
      <p:sp>
        <p:nvSpPr>
          <p:cNvPr id="4" name="Line1"/>
          <p:cNvSpPr txBox="1"/>
          <p:nvPr/>
        </p:nvSpPr>
        <p:spPr>
          <a:xfrm>
            <a:off x="777240" y="256032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20分钟：梯度校验，解释误差来源</a:t>
            </a:r>
          </a:p>
        </p:txBody>
      </p:sp>
      <p:sp>
        <p:nvSpPr>
          <p:cNvPr id="5" name="Line2"/>
          <p:cNvSpPr txBox="1"/>
          <p:nvPr/>
        </p:nvSpPr>
        <p:spPr>
          <a:xfrm>
            <a:off x="777240" y="34290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25分钟：训练与读曲线，含5分钟休息</a:t>
            </a:r>
          </a:p>
        </p:txBody>
      </p:sp>
      <p:sp>
        <p:nvSpPr>
          <p:cNvPr id="6" name="Line3"/>
          <p:cNvSpPr txBox="1"/>
          <p:nvPr/>
        </p:nvSpPr>
        <p:spPr>
          <a:xfrm>
            <a:off x="777240" y="429768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15分钟：缺陷复现与失败分析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029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3000" b="1" dirty="0">
                <a:solidFill>
                  <a:srgbClr val="172F46"/>
                </a:solidFill>
                <a:latin typeface="Heiti TC"/>
                <a:ea typeface="Heiti TC"/>
              </a:rPr>
              <a:t>冻结测试：与第01课对照</a:t>
            </a:r>
          </a:p>
        </p:txBody>
      </p:sp>
      <p:graphicFrame>
        <p:nvGraphicFramePr>
          <p:cNvPr id="99" name="实测对照图"/>
          <p:cNvGraphicFramePr/>
          <p:nvPr/>
        </p:nvGraphicFramePr>
        <p:xfrm>
          <a:off x="1051560" y="1737360"/>
          <a:ext cx="10058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029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3000" b="1" dirty="0">
                <a:solidFill>
                  <a:srgbClr val="172F46"/>
                </a:solidFill>
                <a:latin typeface="Heiti TC"/>
                <a:ea typeface="Heiti TC"/>
              </a:rPr>
              <a:t>质量、覆盖率与误收的取舍</a:t>
            </a:r>
          </a:p>
        </p:txBody>
      </p:sp>
      <p:sp>
        <p:nvSpPr>
          <p:cNvPr id="3" name="Line0"/>
          <p:cNvSpPr txBox="1"/>
          <p:nvPr/>
        </p:nvSpPr>
        <p:spPr>
          <a:xfrm>
            <a:off x="777240" y="16916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强制分类：0.7456 vs 第01课0.6100</a:t>
            </a:r>
          </a:p>
        </p:txBody>
      </p:sp>
      <p:sp>
        <p:nvSpPr>
          <p:cNvPr id="4" name="Line1"/>
          <p:cNvSpPr txBox="1"/>
          <p:nvPr/>
        </p:nvSpPr>
        <p:spPr>
          <a:xfrm>
            <a:off x="777240" y="256032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带拒识：0.4926，覆盖率52.9%</a:t>
            </a:r>
          </a:p>
        </p:txBody>
      </p:sp>
      <p:sp>
        <p:nvSpPr>
          <p:cNvPr id="5" name="Line2"/>
          <p:cNvSpPr txBox="1"/>
          <p:nvPr/>
        </p:nvSpPr>
        <p:spPr>
          <a:xfrm>
            <a:off x="777240" y="34290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未知误收4/40，第01课为0/40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029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3000" b="1" dirty="0">
                <a:solidFill>
                  <a:srgbClr val="172F46"/>
                </a:solidFill>
                <a:latin typeface="Heiti TC"/>
                <a:ea typeface="Heiti TC"/>
              </a:rPr>
              <a:t>配对区间跨0</a:t>
            </a:r>
          </a:p>
        </p:txBody>
      </p:sp>
      <p:sp>
        <p:nvSpPr>
          <p:cNvPr id="3" name="Line0"/>
          <p:cNvSpPr txBox="1"/>
          <p:nvPr/>
        </p:nvSpPr>
        <p:spPr>
          <a:xfrm>
            <a:off x="777240" y="16916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按表达族配对bootstrap 1000次</a:t>
            </a:r>
          </a:p>
        </p:txBody>
      </p:sp>
      <p:sp>
        <p:nvSpPr>
          <p:cNvPr id="4" name="Line1"/>
          <p:cNvSpPr txBox="1"/>
          <p:nvPr/>
        </p:nvSpPr>
        <p:spPr>
          <a:xfrm>
            <a:off x="777240" y="256032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均值池化F1 [0.365, 0.575]</a:t>
            </a:r>
          </a:p>
        </p:txBody>
      </p:sp>
      <p:sp>
        <p:nvSpPr>
          <p:cNvPr id="5" name="Line2"/>
          <p:cNvSpPr txBox="1"/>
          <p:nvPr/>
        </p:nvSpPr>
        <p:spPr>
          <a:xfrm>
            <a:off x="777240" y="34290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差值区间 [−0.014, 0.255] 跨0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029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3000" b="1" dirty="0">
                <a:solidFill>
                  <a:srgbClr val="172F46"/>
                </a:solidFill>
                <a:latin typeface="Heiti TC"/>
                <a:ea typeface="Heiti TC"/>
              </a:rPr>
              <a:t>缺陷一：补齐参与均值</a:t>
            </a:r>
          </a:p>
        </p:txBody>
      </p:sp>
      <p:sp>
        <p:nvSpPr>
          <p:cNvPr id="3" name="Line0"/>
          <p:cNvSpPr txBox="1"/>
          <p:nvPr/>
        </p:nvSpPr>
        <p:spPr>
          <a:xfrm>
            <a:off x="777240" y="16916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池化最大差异0.5243，30/280条预测改变</a:t>
            </a:r>
          </a:p>
        </p:txBody>
      </p:sp>
      <p:sp>
        <p:nvSpPr>
          <p:cNvPr id="4" name="Line1"/>
          <p:cNvSpPr txBox="1"/>
          <p:nvPr/>
        </p:nvSpPr>
        <p:spPr>
          <a:xfrm>
            <a:off x="777240" y="256032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扩宽画布：正确实现漂移0，缺陷0.3401</a:t>
            </a:r>
          </a:p>
        </p:txBody>
      </p:sp>
      <p:sp>
        <p:nvSpPr>
          <p:cNvPr id="5" name="Line2"/>
          <p:cNvSpPr txBox="1"/>
          <p:nvPr/>
        </p:nvSpPr>
        <p:spPr>
          <a:xfrm>
            <a:off x="777240" y="34290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该缺陷的测试F1反而更高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029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3000" b="1" dirty="0">
                <a:solidFill>
                  <a:srgbClr val="172F46"/>
                </a:solidFill>
                <a:latin typeface="Heiti TC"/>
                <a:ea typeface="Heiti TC"/>
              </a:rPr>
              <a:t>缺陷二：标签错位</a:t>
            </a:r>
          </a:p>
        </p:txBody>
      </p:sp>
      <p:sp>
        <p:nvSpPr>
          <p:cNvPr id="3" name="Line0"/>
          <p:cNvSpPr txBox="1"/>
          <p:nvPr/>
        </p:nvSpPr>
        <p:spPr>
          <a:xfrm>
            <a:off x="777240" y="16916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末轮训练loss仍为1.6388（接近ln12）</a:t>
            </a:r>
          </a:p>
        </p:txBody>
      </p:sp>
      <p:sp>
        <p:nvSpPr>
          <p:cNvPr id="4" name="Line1"/>
          <p:cNvSpPr txBox="1"/>
          <p:nvPr/>
        </p:nvSpPr>
        <p:spPr>
          <a:xfrm>
            <a:off x="777240" y="256032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强制分类macro-F1降到0.0915</a:t>
            </a:r>
          </a:p>
        </p:txBody>
      </p:sp>
      <p:sp>
        <p:nvSpPr>
          <p:cNvPr id="5" name="Line2"/>
          <p:cNvSpPr txBox="1"/>
          <p:nvPr/>
        </p:nvSpPr>
        <p:spPr>
          <a:xfrm>
            <a:off x="777240" y="34290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诊断信号：loss不降、预测集中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029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3000" b="1" dirty="0">
                <a:solidFill>
                  <a:srgbClr val="172F46"/>
                </a:solidFill>
                <a:latin typeface="Heiti TC"/>
                <a:ea typeface="Heiti TC"/>
              </a:rPr>
              <a:t>课堂验收与作业</a:t>
            </a:r>
          </a:p>
        </p:txBody>
      </p:sp>
      <p:sp>
        <p:nvSpPr>
          <p:cNvPr id="3" name="Line0"/>
          <p:cNvSpPr txBox="1"/>
          <p:nvPr/>
        </p:nvSpPr>
        <p:spPr>
          <a:xfrm>
            <a:off x="777240" y="16916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提交形状图、训练记录与两种错误的定位说明</a:t>
            </a:r>
          </a:p>
        </p:txBody>
      </p:sp>
      <p:sp>
        <p:nvSpPr>
          <p:cNvPr id="4" name="Line1"/>
          <p:cNvSpPr txBox="1"/>
          <p:nvPr/>
        </p:nvSpPr>
        <p:spPr>
          <a:xfrm>
            <a:off x="777240" y="256032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证明补齐不改变有效文本的池化结果</a:t>
            </a:r>
          </a:p>
        </p:txBody>
      </p:sp>
      <p:sp>
        <p:nvSpPr>
          <p:cNvPr id="5" name="Line2"/>
          <p:cNvSpPr txBox="1"/>
          <p:nvPr/>
        </p:nvSpPr>
        <p:spPr>
          <a:xfrm>
            <a:off x="777240" y="34290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300" b="0" dirty="0">
                <a:solidFill>
                  <a:srgbClr val="172F46"/>
                </a:solidFill>
                <a:latin typeface="Heiti TC"/>
                <a:ea typeface="Heiti TC"/>
              </a:rPr>
              <a:t>解释一个失败案例；低分不等于作业不合格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Course">
  <a:themeElements>
    <a:clrScheme name="AgentCourse">
      <a:dk1>
        <a:srgbClr val="172F46"/>
      </a:dk1>
      <a:lt1>
        <a:srgbClr val="FFFFFF"/>
      </a:lt1>
      <a:dk2>
        <a:srgbClr val="315C9B"/>
      </a:dk2>
      <a:lt2>
        <a:srgbClr val="F2F5F8"/>
      </a:lt2>
      <a:accent1>
        <a:srgbClr val="315C9B"/>
      </a:accent1>
      <a:accent2>
        <a:srgbClr val="C47B27"/>
      </a:accent2>
      <a:accent3>
        <a:srgbClr val="6E8FBF"/>
      </a:accent3>
      <a:accent4>
        <a:srgbClr val="E0B072"/>
      </a:accent4>
      <a:accent5>
        <a:srgbClr val="A33F3F"/>
      </a:accent5>
      <a:accent6>
        <a:srgbClr val="697A86"/>
      </a:accent6>
      <a:hlink>
        <a:srgbClr val="315C9B"/>
      </a:hlink>
      <a:folHlink>
        <a:srgbClr val="8C5721"/>
      </a:folHlink>
    </a:clrScheme>
    <a:fontScheme name="AgentCourse">
      <a:majorFont>
        <a:latin typeface="Heiti TC"/>
        <a:ea typeface="Heiti TC"/>
      </a:majorFont>
      <a:minorFont>
        <a:latin typeface="Heiti TC"/>
        <a:ea typeface="Heiti TC"/>
      </a:minorFont>
    </a:fontScheme>
    <a:fmtScheme name="AgentCours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